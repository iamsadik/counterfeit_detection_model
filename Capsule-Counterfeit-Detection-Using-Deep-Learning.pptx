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Montserrat" pitchFamily="2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9922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7684" y="942380"/>
            <a:ext cx="7641431" cy="1412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Capsule Counterfeit Detection Using Deep Learning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237684" y="2676644"/>
            <a:ext cx="7641431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Safeguarding health through intelligent vision.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6237684" y="3261479"/>
            <a:ext cx="7641431" cy="1613059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59974" y="3483769"/>
            <a:ext cx="3300413" cy="35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Addressing a Critical Need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59974" y="3965496"/>
            <a:ext cx="7196852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Counterfeit medicines are a severe global threat, endangering public health and eroding trust in healthcare systems.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6237684" y="5089208"/>
            <a:ext cx="7641431" cy="1613059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59974" y="5311497"/>
            <a:ext cx="3666530" cy="35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Innovative Detection Solution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59974" y="5793224"/>
            <a:ext cx="7196852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project delivers an automated, scalable, and real-time deep learning solution for accurate counterfeit capsule detection.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237684" y="6943725"/>
            <a:ext cx="7641431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6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A7E2F1-5776-4C9B-8C5A-0D2D5A1818E9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002030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Motivation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225623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58309" y="2829044"/>
            <a:ext cx="670179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 Prevalence of Counterfeit Drugs: 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significant percentage (10%) of pharmaceuticals in regions like Bangladesh are suspected to be counterfeit or substandard.</a:t>
            </a:r>
            <a:b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recent </a:t>
            </a:r>
            <a:r>
              <a:rPr lang="en-US" sz="170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estimates numbers raised to 20%.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58309" y="4410789"/>
            <a:ext cx="670179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Lack of Automation in Quality Control: 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 inspection techniques rely heavily on human expertise and visual cues, which are time-consuming and prone to error.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8309" y="5992535"/>
            <a:ext cx="670179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Accessibility of Detection Tools: 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There is no low-cost, scalable system available to verify capsule authenticity at the consumer, pharmacy, or field level.</a:t>
            </a:r>
            <a:endParaRPr lang="en-US" sz="1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095" y="2345005"/>
            <a:ext cx="3741757" cy="37417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996357" y="4813102"/>
            <a:ext cx="5883235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57CD02-9997-45FB-9F86-A01E74570D4F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742" y="270748"/>
            <a:ext cx="3520916" cy="35209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8309" y="5000149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Objectives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58309" y="6037778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462326" y="6112193"/>
            <a:ext cx="3283387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Detection &amp; Classification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462326" y="6598325"/>
            <a:ext cx="5717500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Identify and categorize capsules as authentic or counterfeit.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450574" y="6037778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54591" y="6112193"/>
            <a:ext cx="3113484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Authenticity Verification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154591" y="6598325"/>
            <a:ext cx="571750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 legitimacy using visual similarity analysis.</a:t>
            </a:r>
            <a:endParaRPr lang="en-US" sz="1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9B35EB-7EA7-47E1-9C68-8CBB5A106001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9249" y="526613"/>
            <a:ext cx="4957167" cy="619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Dataset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659249" y="1598295"/>
            <a:ext cx="6426160" cy="60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comprehensive dataset was meticulously sourced from </a:t>
            </a:r>
            <a:r>
              <a:rPr lang="en-US" sz="145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Roboflow</a:t>
            </a: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 platform known for its diverse image collections.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59249" y="2266831"/>
            <a:ext cx="6426160" cy="904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is specifically curated for capsule detection, featuring 8 distinct classes: 4 representing authentic capsule types and 4 representing their corresponding counterfeit versions.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9249" y="3236714"/>
            <a:ext cx="6426160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rich collection comprises over </a:t>
            </a:r>
            <a:r>
              <a:rPr lang="en-US" sz="145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4,800 annotated images</a:t>
            </a: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9249" y="3603903"/>
            <a:ext cx="6426160" cy="1205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raw data was initially in Pascal VOC format and was meticulously converted to YOLO format, a more efficient and widely adopted standard for real-time object detection models, to streamline our model training and inference processes.</a:t>
            </a:r>
            <a:endParaRPr lang="en-US" sz="14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49" y="4875134"/>
            <a:ext cx="2521273" cy="252127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52611" y="1598295"/>
            <a:ext cx="6426160" cy="904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Below are illustrative examples from our dataset, showcasing the subtle visual differences between authentic and counterfeit capsules, which our model is trained to identify:</a:t>
            </a:r>
            <a:endParaRPr lang="en-US" sz="1450" dirty="0"/>
          </a:p>
        </p:txBody>
      </p:sp>
      <p:pic>
        <p:nvPicPr>
          <p:cNvPr id="9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60231" y="3150420"/>
            <a:ext cx="3130153" cy="1658872"/>
          </a:xfrm>
          <a:prstGeom prst="rect">
            <a:avLst/>
          </a:prstGeom>
        </p:spPr>
      </p:pic>
      <p:pic>
        <p:nvPicPr>
          <p:cNvPr id="10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40998" y="3150420"/>
            <a:ext cx="3130153" cy="1662893"/>
          </a:xfrm>
          <a:prstGeom prst="rect">
            <a:avLst/>
          </a:prstGeom>
        </p:spPr>
      </p:pic>
      <p:pic>
        <p:nvPicPr>
          <p:cNvPr id="11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60231" y="5307910"/>
            <a:ext cx="2832260" cy="2215174"/>
          </a:xfrm>
          <a:prstGeom prst="rect">
            <a:avLst/>
          </a:prstGeom>
        </p:spPr>
      </p:pic>
      <p:pic>
        <p:nvPicPr>
          <p:cNvPr id="12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848618" y="5307910"/>
            <a:ext cx="3130153" cy="221517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13F8EED-A580-4F33-B8B2-E85B8EA8B6AF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B2D443-5B21-41BD-AECA-2E0D98AC3963}"/>
              </a:ext>
            </a:extLst>
          </p:cNvPr>
          <p:cNvSpPr/>
          <p:nvPr/>
        </p:nvSpPr>
        <p:spPr>
          <a:xfrm>
            <a:off x="8300500" y="7618886"/>
            <a:ext cx="1351722" cy="1987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Authentic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BCD937-C89C-42F7-A663-988405CE9AD6}"/>
              </a:ext>
            </a:extLst>
          </p:cNvPr>
          <p:cNvSpPr/>
          <p:nvPr/>
        </p:nvSpPr>
        <p:spPr>
          <a:xfrm>
            <a:off x="8449446" y="4886315"/>
            <a:ext cx="1351722" cy="1987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Authentic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9C742C-FD7F-4BFB-AE50-F190D28C1825}"/>
              </a:ext>
            </a:extLst>
          </p:cNvPr>
          <p:cNvSpPr/>
          <p:nvPr/>
        </p:nvSpPr>
        <p:spPr>
          <a:xfrm>
            <a:off x="11730213" y="4886314"/>
            <a:ext cx="1351722" cy="1987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Counterfeit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FDFD50-F476-443A-A2A7-B025C87E3A00}"/>
              </a:ext>
            </a:extLst>
          </p:cNvPr>
          <p:cNvSpPr/>
          <p:nvPr/>
        </p:nvSpPr>
        <p:spPr>
          <a:xfrm>
            <a:off x="11737833" y="7618886"/>
            <a:ext cx="1351722" cy="1987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Counterfeit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34869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839" y="3808095"/>
            <a:ext cx="4701659" cy="582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Dataset Preprocessing</a:t>
            </a:r>
            <a:endParaRPr lang="en-US" sz="3650" dirty="0"/>
          </a:p>
        </p:txBody>
      </p:sp>
      <p:sp>
        <p:nvSpPr>
          <p:cNvPr id="4" name="Shape 1"/>
          <p:cNvSpPr/>
          <p:nvPr/>
        </p:nvSpPr>
        <p:spPr>
          <a:xfrm>
            <a:off x="619839" y="4921925"/>
            <a:ext cx="6628924" cy="177046"/>
          </a:xfrm>
          <a:prstGeom prst="roundRect">
            <a:avLst>
              <a:gd name="adj" fmla="val 150066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96885" y="5276017"/>
            <a:ext cx="2330529" cy="291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Capsule Cropping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96885" y="5673447"/>
            <a:ext cx="6274832" cy="283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Capsules were precisely cropped using YOLO bounding boxes.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81518" y="4656296"/>
            <a:ext cx="6629043" cy="177046"/>
          </a:xfrm>
          <a:prstGeom prst="roundRect">
            <a:avLst>
              <a:gd name="adj" fmla="val 150066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58564" y="5010388"/>
            <a:ext cx="2330529" cy="291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Folder Organization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58564" y="5407819"/>
            <a:ext cx="6274951" cy="283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Images saved into 8 distinct folders: 4 authentic, 4 counterfeit.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9839" y="6532245"/>
            <a:ext cx="6628924" cy="177046"/>
          </a:xfrm>
          <a:prstGeom prst="roundRect">
            <a:avLst>
              <a:gd name="adj" fmla="val 150066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6885" y="6886337"/>
            <a:ext cx="2330529" cy="291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Image Pair Creation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96885" y="7283768"/>
            <a:ext cx="6274832" cy="283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10,000 image pairs (5,000 positive, 5,000 negative).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381518" y="6266617"/>
            <a:ext cx="6629043" cy="177046"/>
          </a:xfrm>
          <a:prstGeom prst="roundRect">
            <a:avLst>
              <a:gd name="adj" fmla="val 150066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58564" y="6620708"/>
            <a:ext cx="2330529" cy="291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Resizing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558564" y="7018139"/>
            <a:ext cx="6274951" cy="283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images resized to 320x320 before training.</a:t>
            </a:r>
            <a:endParaRPr lang="en-US" sz="13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22CA55-6E1F-4507-AA76-4FF296201649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154668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Architecture Overview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2408873"/>
            <a:ext cx="3421618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Siamese Verification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58309" y="2981682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Backbone: ResNet-18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58309" y="3404116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Input: 320x320 image pairs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8309" y="3826550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 Embedding: 256-dimensional feature vector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58309" y="4248983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Output: 2-layer similarity head (Sigmoid)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58309" y="4671417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Head Network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309" y="5093851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Loss: BCE loss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309" y="5657136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Training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58309" y="6229945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 image pairs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8309" y="6652379"/>
            <a:ext cx="6565344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epochs, batch size 16</a:t>
            </a:r>
            <a:endParaRPr lang="en-US" sz="17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908" y="1949328"/>
            <a:ext cx="4599310" cy="459931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708D568-AFC7-40F9-AEEE-A673897DD166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326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84570" y="470059"/>
            <a:ext cx="6765250" cy="562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Evaluation &amp; Performance Metrics</a:t>
            </a:r>
            <a:endParaRPr lang="en-US" sz="35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4570" y="1288613"/>
            <a:ext cx="427315" cy="42731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84570" y="1929527"/>
            <a:ext cx="2249091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Key Metrics</a:t>
            </a: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6084570" y="2313146"/>
            <a:ext cx="7947660" cy="273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Precision, Recall, Accuracy, F1 Score.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570" y="3013948"/>
            <a:ext cx="427315" cy="42731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84570" y="3654862"/>
            <a:ext cx="2249091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Distribution Analysis</a:t>
            </a:r>
            <a:endParaRPr lang="en-US" sz="1750" dirty="0"/>
          </a:p>
        </p:txBody>
      </p:sp>
      <p:sp>
        <p:nvSpPr>
          <p:cNvPr id="9" name="Text 4"/>
          <p:cNvSpPr/>
          <p:nvPr/>
        </p:nvSpPr>
        <p:spPr>
          <a:xfrm>
            <a:off x="6084570" y="4038481"/>
            <a:ext cx="7947660" cy="273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Embedding distance distribution.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4570" y="4739283"/>
            <a:ext cx="427315" cy="42731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084570" y="5380196"/>
            <a:ext cx="2249091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Verification Accuracy</a:t>
            </a:r>
            <a:endParaRPr lang="en-US" sz="1750" dirty="0"/>
          </a:p>
        </p:txBody>
      </p:sp>
      <p:sp>
        <p:nvSpPr>
          <p:cNvPr id="12" name="Text 6"/>
          <p:cNvSpPr/>
          <p:nvPr/>
        </p:nvSpPr>
        <p:spPr>
          <a:xfrm>
            <a:off x="6084570" y="5763816"/>
            <a:ext cx="7947660" cy="273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system verification performance.</a:t>
            </a:r>
            <a:endParaRPr lang="en-US" sz="13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4570" y="6464618"/>
            <a:ext cx="427315" cy="42731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084570" y="7105531"/>
            <a:ext cx="2249091" cy="2811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ROC &amp; AUC</a:t>
            </a:r>
            <a:endParaRPr lang="en-US" sz="1750" dirty="0"/>
          </a:p>
        </p:txBody>
      </p:sp>
      <p:sp>
        <p:nvSpPr>
          <p:cNvPr id="15" name="Text 8"/>
          <p:cNvSpPr/>
          <p:nvPr/>
        </p:nvSpPr>
        <p:spPr>
          <a:xfrm>
            <a:off x="6084570" y="7489150"/>
            <a:ext cx="7947660" cy="273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Receiver Operating Characteristic Curve and Area Under Curve.</a:t>
            </a:r>
            <a:endParaRPr lang="en-US" sz="13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490C65-3647-436B-AC57-40F8478CDBC8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090732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Results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2236708"/>
            <a:ext cx="1311378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model demonstrated exceptional performance in capsule counterfeit detection, achieving outstanding results across all key metrics: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58309" y="3368754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Accuracy: 0.9965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- Indicating a very high proportion of correct predictions across all classifications.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58309" y="4137898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Precision: 0.9962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- Highlighting the reliability of our positive identifications for counterfeit capsules.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8309" y="4907042"/>
            <a:ext cx="629257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Recall: 0.9968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- Demonstrating the model's effectiveness in correctly identifying nearly all actual counterfeit cases.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58309" y="6022896"/>
            <a:ext cx="6292572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F1 Score: 0.9965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- Representing an excellent balance between precision and recall, underscoring the model's overall robustness.</a:t>
            </a:r>
            <a:endParaRPr lang="en-US" sz="17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738" y="3089972"/>
            <a:ext cx="3634139" cy="363413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2AC2762-D069-41DC-B525-82A4BFEA81DC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426553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8309" y="4813221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Challenges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58309" y="5850850"/>
            <a:ext cx="4226838" cy="1627942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2504" y="6075045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Class Confusion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82504" y="6561177"/>
            <a:ext cx="377844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Visually identical capsules pose classification difficulties.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201722" y="5850850"/>
            <a:ext cx="4226838" cy="1627942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25916" y="6075045"/>
            <a:ext cx="2855595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Environmental Factors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25916" y="6561177"/>
            <a:ext cx="377844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Lighting, blur, and camera quality impact detection accuracy.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645134" y="5850850"/>
            <a:ext cx="4226957" cy="1627942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69329" y="6075045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Dataset Limitations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869329" y="6561177"/>
            <a:ext cx="377856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Limited diversity in the current dataset.</a:t>
            </a:r>
            <a:endParaRPr lang="en-US" sz="17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60A0E1-5137-4DBF-8C59-6A9EB24A1D0D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2312908"/>
            <a:ext cx="6497717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Future Work &amp; Conclusion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356711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Future Work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58309" y="4139922"/>
            <a:ext cx="6292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dataset with more brands and variations.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58309" y="4562356"/>
            <a:ext cx="6292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Explore Triplet Networks or transformer-based models.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8309" y="4984790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Deploy on mobile (Android) using ONNX or TensorFlow Lite.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587139" y="356711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587139" y="4139922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Imperative: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Protecting global health from counterfeit drugs.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7139" y="5028248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in Innovation: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Key to a safer, more secure pharmaceutical supply chain.</a:t>
            </a:r>
            <a:endParaRPr lang="en-US" sz="17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FFC9E9-E906-4B60-A2B7-D9C9E8AD1916}"/>
              </a:ext>
            </a:extLst>
          </p:cNvPr>
          <p:cNvSpPr/>
          <p:nvPr/>
        </p:nvSpPr>
        <p:spPr>
          <a:xfrm>
            <a:off x="12781722" y="7742583"/>
            <a:ext cx="1848678" cy="4870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309" y="2247424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997" y="2277368"/>
            <a:ext cx="342067" cy="4275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2326" y="2321838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Thank You!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62326" y="2894648"/>
            <a:ext cx="5588556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appreciate your attention and welcome any questions you may have.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58309" y="4021336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462326" y="4091702"/>
            <a:ext cx="5588556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Sadik Mahmud</a:t>
            </a:r>
            <a:b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011221113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58309" y="5218390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62326" y="5288756"/>
            <a:ext cx="5588556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Yeamine </a:t>
            </a:r>
            <a:r>
              <a:rPr lang="en-US" sz="17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Alam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7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Sorol</a:t>
            </a:r>
            <a:b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011221108</a:t>
            </a:r>
            <a:endParaRPr lang="en-US" sz="17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782" y="1896945"/>
            <a:ext cx="4389513" cy="438951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E2C4E0C-F925-45D8-84EE-5FB7A680B15B}"/>
              </a:ext>
            </a:extLst>
          </p:cNvPr>
          <p:cNvSpPr/>
          <p:nvPr/>
        </p:nvSpPr>
        <p:spPr>
          <a:xfrm>
            <a:off x="12761843" y="7613374"/>
            <a:ext cx="1779105" cy="516835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642</Words>
  <Application>Microsoft Office PowerPoint</Application>
  <PresentationFormat>Custom</PresentationFormat>
  <Paragraphs>91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Barlow Bold</vt:lpstr>
      <vt:lpstr>Calibri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Sadik Mahmud</cp:lastModifiedBy>
  <cp:revision>12</cp:revision>
  <dcterms:created xsi:type="dcterms:W3CDTF">2025-06-26T17:46:10Z</dcterms:created>
  <dcterms:modified xsi:type="dcterms:W3CDTF">2025-06-26T18:12:22Z</dcterms:modified>
</cp:coreProperties>
</file>