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4630400" cy="8229600"/>
  <p:notesSz cx="8229600" cy="14630400"/>
  <p:embeddedFontLst>
    <p:embeddedFont>
      <p:font typeface="Barlow Bold" panose="00000800000000000000" pitchFamily="2" charset="0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ontserrat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922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9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684" y="942380"/>
            <a:ext cx="7641431" cy="1412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Capsule Counterfeit Detection Using Deep Learning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37684" y="2676644"/>
            <a:ext cx="7641431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Safeguarding health through intelligent vision.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6237684" y="3261479"/>
            <a:ext cx="7641431" cy="1613059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59974" y="3483769"/>
            <a:ext cx="3300413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Addressing a Critical Need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59974" y="3965496"/>
            <a:ext cx="719685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Counterfeit medicines are a severe global threat, endangering public health and eroding trust in healthcare systems.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37684" y="5089208"/>
            <a:ext cx="7641431" cy="1613059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9974" y="5311497"/>
            <a:ext cx="3666530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Innovative Detection Solution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59974" y="5793224"/>
            <a:ext cx="7196852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project delivers an automated, scalable, and real-time deep learning solution for accurate counterfeit capsule detection.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37684" y="6943725"/>
            <a:ext cx="7641431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6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A7E2F1-5776-4C9B-8C5A-0D2D5A1818E9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020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Motivation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5623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829044"/>
            <a:ext cx="6701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Prevalence of Counterfeit Drugs: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significant percentage (10%) of pharmaceuticals in regions like Bangladesh are suspected to be counterfeit or substandard.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recent </a:t>
            </a:r>
            <a:r>
              <a:rPr lang="en-US" sz="170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estimates numbers raised to 20%.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410789"/>
            <a:ext cx="6701790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Lack of Automation in Quality Control: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inspection techniques rely heavily on human expertise and visual cues, which are time-consuming and prone to error.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5992535"/>
            <a:ext cx="670179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Accessibility of Detection Tools: 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There is no low-cost, scalable system available to verify capsule authenticity at the consumer, pharmacy, or field level.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095" y="2345005"/>
            <a:ext cx="3741757" cy="374175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96357" y="4813102"/>
            <a:ext cx="588323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7CD02-9997-45FB-9F86-A01E74570D4F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742" y="270748"/>
            <a:ext cx="3520916" cy="35209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5000149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603777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62326" y="6112193"/>
            <a:ext cx="328338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Detection &amp; Classification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6598325"/>
            <a:ext cx="57175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and categorize capsules as authentic or counterfeit.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450574" y="6037778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54591" y="6112193"/>
            <a:ext cx="311348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Authenticity Verification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54591" y="6598325"/>
            <a:ext cx="571750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legitimacy using visual similarity analysis.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9B35EB-7EA7-47E1-9C68-8CBB5A106001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4FFC9E9-E906-4B60-A2B7-D9C9E8AD191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095C43-71F7-4121-A7E8-AA20A00E0A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459024"/>
              </p:ext>
            </p:extLst>
          </p:nvPr>
        </p:nvGraphicFramePr>
        <p:xfrm>
          <a:off x="2317128" y="2157586"/>
          <a:ext cx="9996143" cy="4389120"/>
        </p:xfrm>
        <a:graphic>
          <a:graphicData uri="http://schemas.openxmlformats.org/drawingml/2006/table">
            <a:tbl>
              <a:tblPr/>
              <a:tblGrid>
                <a:gridCol w="2116510">
                  <a:extLst>
                    <a:ext uri="{9D8B030D-6E8A-4147-A177-3AD203B41FA5}">
                      <a16:colId xmlns:a16="http://schemas.microsoft.com/office/drawing/2014/main" val="2012438592"/>
                    </a:ext>
                  </a:extLst>
                </a:gridCol>
                <a:gridCol w="2413111">
                  <a:extLst>
                    <a:ext uri="{9D8B030D-6E8A-4147-A177-3AD203B41FA5}">
                      <a16:colId xmlns:a16="http://schemas.microsoft.com/office/drawing/2014/main" val="614958376"/>
                    </a:ext>
                  </a:extLst>
                </a:gridCol>
                <a:gridCol w="2156791">
                  <a:extLst>
                    <a:ext uri="{9D8B030D-6E8A-4147-A177-3AD203B41FA5}">
                      <a16:colId xmlns:a16="http://schemas.microsoft.com/office/drawing/2014/main" val="2290406443"/>
                    </a:ext>
                  </a:extLst>
                </a:gridCol>
                <a:gridCol w="2594113">
                  <a:extLst>
                    <a:ext uri="{9D8B030D-6E8A-4147-A177-3AD203B41FA5}">
                      <a16:colId xmlns:a16="http://schemas.microsoft.com/office/drawing/2014/main" val="4266367753"/>
                    </a:ext>
                  </a:extLst>
                </a:gridCol>
                <a:gridCol w="715618">
                  <a:extLst>
                    <a:ext uri="{9D8B030D-6E8A-4147-A177-3AD203B41FA5}">
                      <a16:colId xmlns:a16="http://schemas.microsoft.com/office/drawing/2014/main" val="36808803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Study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Model / Architecture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Task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Dataset / Tools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6612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da-DK"/>
                        <a:t>Zhou et al. (2020) [1]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RACNN (Custom CNN with dropout, L2 reg, Adam)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Multi-class defect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Capsule production-line images (PyTorch)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510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Burgin (2019) [2]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CNN + Superpixel Graph Labeling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Defect localization on tablets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Tablet coating images + graph-based labeling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9123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Yan (2015) [3]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Forest on region-specific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Region-wise tablet defect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Segmented tablet regions; traditional 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22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Motwani (2022) [4]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Fine-tuned VGG16, ResNet50 (Keras/TensorFlow)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 vs. counterfeit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Smartphone images of capsules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127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Zhao (2024) [5]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YOLOv5 + MobileNetV3 + SE + CH-SPP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Real-time transparent capsule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 capsule dataset; PyTorch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61214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F9D5A93-333D-4E12-8260-6F5C4B8C5977}"/>
              </a:ext>
            </a:extLst>
          </p:cNvPr>
          <p:cNvSpPr txBox="1"/>
          <p:nvPr/>
        </p:nvSpPr>
        <p:spPr>
          <a:xfrm>
            <a:off x="1005163" y="1060906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Literature Review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829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249" y="526613"/>
            <a:ext cx="4957167" cy="61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59249" y="1598295"/>
            <a:ext cx="6426160" cy="602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comprehensive dataset was meticulously sourced from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Roboflow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 platform known for its diverse image collections.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59249" y="2266831"/>
            <a:ext cx="6426160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is specifically curated for capsule detection, featuring 8 distinct classes: 4 representing authentic capsule types and 4 representing their corresponding counterfeit versions.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9249" y="3236714"/>
            <a:ext cx="6426160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rich collection comprises over </a:t>
            </a:r>
            <a:r>
              <a:rPr lang="en-US" sz="14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4,800 annotated images</a:t>
            </a: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9249" y="3603903"/>
            <a:ext cx="6426160" cy="120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raw data was initially in Pascal VOC format and was meticulously converted to YOLO format, a more efficient and widely adopted standard for real-time object detection models, to streamline our model training and inference processes.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49" y="4875134"/>
            <a:ext cx="2521273" cy="252127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52611" y="1598295"/>
            <a:ext cx="6426160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Below are illustrative examples from our dataset, showcasing the subtle visual differences between authentic and counterfeit capsules, which our model is trained to identify:</a:t>
            </a:r>
            <a:endParaRPr lang="en-US" sz="1450" dirty="0"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60231" y="3150420"/>
            <a:ext cx="3130153" cy="1658872"/>
          </a:xfrm>
          <a:prstGeom prst="rect">
            <a:avLst/>
          </a:prstGeom>
        </p:spPr>
      </p:pic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840998" y="3150420"/>
            <a:ext cx="3130153" cy="1662893"/>
          </a:xfrm>
          <a:prstGeom prst="rect">
            <a:avLst/>
          </a:prstGeom>
        </p:spPr>
      </p:pic>
      <p:pic>
        <p:nvPicPr>
          <p:cNvPr id="11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560231" y="5307910"/>
            <a:ext cx="2832260" cy="2215174"/>
          </a:xfrm>
          <a:prstGeom prst="rect">
            <a:avLst/>
          </a:prstGeom>
        </p:spPr>
      </p:pic>
      <p:pic>
        <p:nvPicPr>
          <p:cNvPr id="12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848618" y="5307910"/>
            <a:ext cx="3130153" cy="22151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13F8EED-A580-4F33-B8B2-E85B8EA8B6AF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2D443-5B21-41BD-AECA-2E0D98AC3963}"/>
              </a:ext>
            </a:extLst>
          </p:cNvPr>
          <p:cNvSpPr/>
          <p:nvPr/>
        </p:nvSpPr>
        <p:spPr>
          <a:xfrm>
            <a:off x="8300500" y="7618886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BCD937-C89C-42F7-A663-988405CE9AD6}"/>
              </a:ext>
            </a:extLst>
          </p:cNvPr>
          <p:cNvSpPr/>
          <p:nvPr/>
        </p:nvSpPr>
        <p:spPr>
          <a:xfrm>
            <a:off x="8449446" y="4886315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Authentic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9C742C-FD7F-4BFB-AE50-F190D28C1825}"/>
              </a:ext>
            </a:extLst>
          </p:cNvPr>
          <p:cNvSpPr/>
          <p:nvPr/>
        </p:nvSpPr>
        <p:spPr>
          <a:xfrm>
            <a:off x="11730213" y="4886314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Counterfeit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FDFD50-F476-443A-A2A7-B025C87E3A00}"/>
              </a:ext>
            </a:extLst>
          </p:cNvPr>
          <p:cNvSpPr/>
          <p:nvPr/>
        </p:nvSpPr>
        <p:spPr>
          <a:xfrm>
            <a:off x="11737833" y="7618886"/>
            <a:ext cx="1351722" cy="1987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Counterfeit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34869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839" y="3808095"/>
            <a:ext cx="4701659" cy="582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Preprocessing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9839" y="4921925"/>
            <a:ext cx="6628924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6885" y="5276017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Capsule Cropping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96885" y="5673447"/>
            <a:ext cx="627483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Capsules were precisely cropped using YOLO bounding boxes.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81518" y="4656296"/>
            <a:ext cx="6629043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58564" y="5010388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Folder Organization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558564" y="5407819"/>
            <a:ext cx="627495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Images saved into 8 distinct folders: 4 authentic, 4 counterfeit.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9839" y="6532245"/>
            <a:ext cx="6628924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6885" y="6886337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Image Pair Creation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6885" y="7283768"/>
            <a:ext cx="6274832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10,000 image pairs (5,000 positive, 5,000 negative).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81518" y="6266617"/>
            <a:ext cx="6629043" cy="177046"/>
          </a:xfrm>
          <a:prstGeom prst="roundRect">
            <a:avLst>
              <a:gd name="adj" fmla="val 15006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8564" y="6620708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Resizing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558564" y="7018139"/>
            <a:ext cx="627495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images resized to 320x320 before training.</a:t>
            </a: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22CA55-6E1F-4507-AA76-4FF296201649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5466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08873"/>
            <a:ext cx="342161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Siamese Verification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981682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Backbone: ResNet-18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404116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Input: 320x320 image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3826550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Embedding: 256-dimensional feature vector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248983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Output: 2-layer similarity head (Sigmoid)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58309" y="4671417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Network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309" y="5093851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Loss: BCE loss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309" y="56571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8309" y="6229945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10,000 image pairs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6652379"/>
            <a:ext cx="656534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 epochs, batch size 16</a:t>
            </a:r>
            <a:endParaRPr lang="en-US" sz="1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908" y="1949328"/>
            <a:ext cx="4599310" cy="459931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08D568-AFC7-40F9-AEEE-A673897DD16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326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570" y="470059"/>
            <a:ext cx="6765250" cy="562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Evaluation &amp; Performance Metrics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570" y="1288613"/>
            <a:ext cx="427315" cy="4273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4570" y="1929527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Metrics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084570" y="2313146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Precision, Recall, Accuracy, F1 Score.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570" y="3013948"/>
            <a:ext cx="427315" cy="42731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4570" y="3654862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Distribution Analysis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084570" y="4038481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Embedding distance distribution.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570" y="4739283"/>
            <a:ext cx="427315" cy="42731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4570" y="5380196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Verification Accuracy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84570" y="5763816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Overall system verification performance.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4570" y="6464618"/>
            <a:ext cx="427315" cy="42731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4570" y="7105531"/>
            <a:ext cx="224909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ROC &amp; AUC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084570" y="7489150"/>
            <a:ext cx="7947660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Receiver Operating Characteristic Curve and Area Under Curve.</a:t>
            </a:r>
            <a:endParaRPr lang="en-US" sz="13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490C65-3647-436B-AC57-40F8478CDBC8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907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236708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model demonstrated exceptional performance in capsule counterfeit detection, achieving outstanding results across all key metrics: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3368754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Accuracy: 0.9965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Indicating a very high proportion of correct predictions across all classifications.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13789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Precision: 0.9962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Highlighting the reliability of our positive identifications for counterfeit capsules.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907042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Recall: 0.9968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Demonstrating the model's effectiveness in correctly identifying nearly all actual counterfeit cases.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6022896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F1 Score: 0.9965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- Representing an excellent balance between precision and recall, underscoring the model's overall robustness.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5738" y="3089972"/>
            <a:ext cx="3634139" cy="36341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2AC2762-D069-41DC-B525-82A4BFEA81DC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42655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481322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5850850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2504" y="60750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Class Confusion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82504" y="6561177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Visually identical capsules pose classification difficulties.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201722" y="5850850"/>
            <a:ext cx="4226838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5916" y="6075045"/>
            <a:ext cx="285559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Environmental Factors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25916" y="6561177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Lighting, blur, and camera quality impact detection accuracy.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9645134" y="5850850"/>
            <a:ext cx="4226957" cy="1627942"/>
          </a:xfrm>
          <a:prstGeom prst="roundRect">
            <a:avLst>
              <a:gd name="adj" fmla="val 1996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69329" y="607504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Limitations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9329" y="6561177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diversity in the current dataset.</a:t>
            </a:r>
            <a:endParaRPr lang="en-US" sz="17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60A0E1-5137-4DBF-8C59-6A9EB24A1D0D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12908"/>
            <a:ext cx="64977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Work &amp; 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39922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 dataset with more brands and variations.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562356"/>
            <a:ext cx="62925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Triplet Networks or transformer-based models.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58309" y="498479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on mobile (Android) using ONNX or TensorFlow Lite.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356711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413992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Imperative: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Protecting global health from counterfeit drugs.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5028248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in Innovation: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to a safer, more secure pharmaceutical supply chain.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FFC9E9-E906-4B60-A2B7-D9C9E8AD1916}"/>
              </a:ext>
            </a:extLst>
          </p:cNvPr>
          <p:cNvSpPr/>
          <p:nvPr/>
        </p:nvSpPr>
        <p:spPr>
          <a:xfrm>
            <a:off x="12781722" y="7742583"/>
            <a:ext cx="1848678" cy="48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309" y="2247424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997" y="2277368"/>
            <a:ext cx="342067" cy="4275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326" y="23218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462326" y="2894648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appreciate your attention and welcome any questions you may have.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58309" y="4021336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2326" y="4091702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Sadik Mahmud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011221113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58309" y="5218390"/>
            <a:ext cx="487442" cy="487442"/>
          </a:xfrm>
          <a:prstGeom prst="roundRect">
            <a:avLst>
              <a:gd name="adj" fmla="val 66673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62326" y="5288756"/>
            <a:ext cx="5588556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Yeamine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Alam</a:t>
            </a: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1700" dirty="0" err="1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Sorol</a:t>
            </a:r>
            <a:b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011221108</a:t>
            </a:r>
            <a:endParaRPr lang="en-US" sz="17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1782" y="1896945"/>
            <a:ext cx="4389513" cy="438951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E2C4E0C-F925-45D8-84EE-5FB7A680B15B}"/>
              </a:ext>
            </a:extLst>
          </p:cNvPr>
          <p:cNvSpPr/>
          <p:nvPr/>
        </p:nvSpPr>
        <p:spPr>
          <a:xfrm>
            <a:off x="12761843" y="7613374"/>
            <a:ext cx="1779105" cy="51683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776</Words>
  <Application>Microsoft Office PowerPoint</Application>
  <PresentationFormat>Custom</PresentationFormat>
  <Paragraphs>117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Arial</vt:lpstr>
      <vt:lpstr>Barlow Bold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Sadik Mahmud</cp:lastModifiedBy>
  <cp:revision>13</cp:revision>
  <dcterms:created xsi:type="dcterms:W3CDTF">2025-06-26T17:46:10Z</dcterms:created>
  <dcterms:modified xsi:type="dcterms:W3CDTF">2025-06-30T16:20:44Z</dcterms:modified>
</cp:coreProperties>
</file>